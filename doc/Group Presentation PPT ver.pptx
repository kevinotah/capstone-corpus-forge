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14820-C198-43ED-A6AA-527D7592ACF7}" type="datetimeFigureOut">
              <a:rPr lang="fr-FR" smtClean="0"/>
              <a:t>28/05/2026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2ED7E-DC66-45A0-A854-D041E7451FD2}" type="slidenum">
              <a:rPr lang="fr-FR" smtClean="0"/>
              <a:t>‹N°›</a:t>
            </a:fld>
            <a:endParaRPr lang="fr-FR"/>
          </a:p>
        </p:txBody>
      </p:sp>
    </p:spTree>
    <p:extLst>
      <p:ext uri="{BB962C8B-B14F-4D97-AF65-F5344CB8AC3E}">
        <p14:creationId xmlns:p14="http://schemas.microsoft.com/office/powerpoint/2010/main" val="4285879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342ED7E-DC66-45A0-A854-D041E7451FD2}" type="slidenum">
              <a:rPr lang="fr-FR" smtClean="0"/>
              <a:t>7</a:t>
            </a:fld>
            <a:endParaRPr lang="fr-FR"/>
          </a:p>
        </p:txBody>
      </p:sp>
    </p:spTree>
    <p:extLst>
      <p:ext uri="{BB962C8B-B14F-4D97-AF65-F5344CB8AC3E}">
        <p14:creationId xmlns:p14="http://schemas.microsoft.com/office/powerpoint/2010/main" val="1388663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5CA09B-A9DE-305C-14C9-72A3C909A01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F70109B-6880-A31B-5A01-17CD2A065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C1FFF2D-A6CC-641B-996F-4CA8EF22E1A9}"/>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5" name="Espace réservé du pied de page 4">
            <a:extLst>
              <a:ext uri="{FF2B5EF4-FFF2-40B4-BE49-F238E27FC236}">
                <a16:creationId xmlns:a16="http://schemas.microsoft.com/office/drawing/2014/main" id="{10CF0E5D-7B07-FE5B-F913-17DAA0834C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9D81099-AFB0-7345-DE17-232A2B468F9B}"/>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1098835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54DD2-437C-8605-0F74-3DA6E755A58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042E65A-4B4C-CDD0-FA26-5A743699AD3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8532EEF-D33C-9844-80DA-5020BE6A8F95}"/>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5" name="Espace réservé du pied de page 4">
            <a:extLst>
              <a:ext uri="{FF2B5EF4-FFF2-40B4-BE49-F238E27FC236}">
                <a16:creationId xmlns:a16="http://schemas.microsoft.com/office/drawing/2014/main" id="{97C366E9-4072-4F39-AE35-6DE4809D6C3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850765F-E4B5-7CF1-3E4A-B9870883ABBE}"/>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1188266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4AC313-AF32-A8E4-0EFA-C6E50D04726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819F6CB-D938-00ED-83EB-09ACDC1595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D32D433-23B3-84B1-356F-933D82D8EEA7}"/>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5" name="Espace réservé du pied de page 4">
            <a:extLst>
              <a:ext uri="{FF2B5EF4-FFF2-40B4-BE49-F238E27FC236}">
                <a16:creationId xmlns:a16="http://schemas.microsoft.com/office/drawing/2014/main" id="{1B7EC42B-DF85-0015-DC50-33E1DC83AD9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6C3EE73-1024-35DB-2F87-5EC0A755AAC3}"/>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3585588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C89C85-F0BE-97FD-FC4E-91982D59E44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825B18F-C232-34A5-EEEF-E71A2A4E2CC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CDA91D9-DA47-0FAD-EB3F-967514E4E1A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46E7B1C-BA63-C17A-4259-86BCF9239D26}"/>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6" name="Espace réservé du pied de page 5">
            <a:extLst>
              <a:ext uri="{FF2B5EF4-FFF2-40B4-BE49-F238E27FC236}">
                <a16:creationId xmlns:a16="http://schemas.microsoft.com/office/drawing/2014/main" id="{3638C99E-A62A-D80F-769B-DE7D8CAE6BA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329C4C7-0949-E458-5B96-6B18A95CE731}"/>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202740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EB5A9B-67EC-C6BA-A39D-53ECF3B7AB7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9D9F575-AD45-3370-FD00-E893FDD066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7AA2C7C-578D-C118-E5FB-AEA29721DCA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F5E2968-B81A-887F-DA6C-565A6DB2BD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2443158-103A-A1F6-515E-85060319305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4DC54E3-8CF0-C220-B858-324FFB40CA28}"/>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8" name="Espace réservé du pied de page 7">
            <a:extLst>
              <a:ext uri="{FF2B5EF4-FFF2-40B4-BE49-F238E27FC236}">
                <a16:creationId xmlns:a16="http://schemas.microsoft.com/office/drawing/2014/main" id="{648A86FF-DCF8-3603-475D-7A71A1E27AE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AF4AD84-5878-FF1D-6792-F2B564BE1AB1}"/>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78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43372A-EFDC-714A-E182-5EF8AC79CCB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62C5E0B-8975-69BB-6402-24BC4C5EE812}"/>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4" name="Espace réservé du pied de page 3">
            <a:extLst>
              <a:ext uri="{FF2B5EF4-FFF2-40B4-BE49-F238E27FC236}">
                <a16:creationId xmlns:a16="http://schemas.microsoft.com/office/drawing/2014/main" id="{AB7A3D0D-2BBF-7B65-8E6A-320FB2BE4EF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A959980-0EC7-23B3-AF7F-D51E6CD29568}"/>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284597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2CC4883-2E0F-1BDD-5F55-A37BC38CBD78}"/>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3" name="Espace réservé du pied de page 2">
            <a:extLst>
              <a:ext uri="{FF2B5EF4-FFF2-40B4-BE49-F238E27FC236}">
                <a16:creationId xmlns:a16="http://schemas.microsoft.com/office/drawing/2014/main" id="{B019E9C1-9954-1B96-3E59-85C2B723387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DD46693-67C7-2DEA-D0CF-68144DC2C312}"/>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3625958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142976-037B-F1C2-B89F-0C1F3180621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A3CB9E5-2244-F05D-7096-250178D3FE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855D28C-FFCE-72BE-630F-B3D988EFF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1B97950-DC7D-3779-553B-8ED91310C45B}"/>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6" name="Espace réservé du pied de page 5">
            <a:extLst>
              <a:ext uri="{FF2B5EF4-FFF2-40B4-BE49-F238E27FC236}">
                <a16:creationId xmlns:a16="http://schemas.microsoft.com/office/drawing/2014/main" id="{D970EFA2-2218-B02A-CCD7-78D042A0697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AD16AF-D35F-9DAC-AF24-2FF7FF5FB637}"/>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2139358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D63970-C284-3D02-54E7-C2F6C989EF3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0276F69-CBB8-254C-715C-44409F65AD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D43CFE9-0D19-AB38-42B4-F748DAACD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F4971E3-419B-7CA8-BBDC-F224C29D7B82}"/>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6" name="Espace réservé du pied de page 5">
            <a:extLst>
              <a:ext uri="{FF2B5EF4-FFF2-40B4-BE49-F238E27FC236}">
                <a16:creationId xmlns:a16="http://schemas.microsoft.com/office/drawing/2014/main" id="{E6116668-6270-38FF-1634-924D3F4E5E9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E8C0B25-21A7-858C-7431-A46FF51F8815}"/>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160755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B8DE2D-3044-B0A0-27BA-6DC5A70A2FC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DB9A44C-A9EC-53E5-8185-6CF0BBBD7D4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1927AD-9AB4-F090-72BB-A7CDF3922631}"/>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5" name="Espace réservé du pied de page 4">
            <a:extLst>
              <a:ext uri="{FF2B5EF4-FFF2-40B4-BE49-F238E27FC236}">
                <a16:creationId xmlns:a16="http://schemas.microsoft.com/office/drawing/2014/main" id="{C8291541-BBAC-5863-6DA1-0F676D4BA18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60758D5-264D-73A1-D56F-48318E4C31A1}"/>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1276600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BFBFA02-0B9A-D899-3713-09B1A508F6C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4D2AF5F-60F0-F5EC-CD43-FB2B6A88EFA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AEE15F0-EA71-398D-FA1B-4A5F11FABF0C}"/>
              </a:ext>
            </a:extLst>
          </p:cNvPr>
          <p:cNvSpPr>
            <a:spLocks noGrp="1"/>
          </p:cNvSpPr>
          <p:nvPr>
            <p:ph type="dt" sz="half" idx="10"/>
          </p:nvPr>
        </p:nvSpPr>
        <p:spPr/>
        <p:txBody>
          <a:bodyPr/>
          <a:lstStyle/>
          <a:p>
            <a:fld id="{EF923084-7893-4B1A-8F2E-86159B53C54B}" type="datetimeFigureOut">
              <a:rPr lang="fr-FR" smtClean="0"/>
              <a:t>28/05/2026</a:t>
            </a:fld>
            <a:endParaRPr lang="fr-FR"/>
          </a:p>
        </p:txBody>
      </p:sp>
      <p:sp>
        <p:nvSpPr>
          <p:cNvPr id="5" name="Espace réservé du pied de page 4">
            <a:extLst>
              <a:ext uri="{FF2B5EF4-FFF2-40B4-BE49-F238E27FC236}">
                <a16:creationId xmlns:a16="http://schemas.microsoft.com/office/drawing/2014/main" id="{2F838B43-9975-4014-B855-1FAC92EE7AB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FB4E42-AAAA-A985-D30B-19BBB32AB761}"/>
              </a:ext>
            </a:extLst>
          </p:cNvPr>
          <p:cNvSpPr>
            <a:spLocks noGrp="1"/>
          </p:cNvSpPr>
          <p:nvPr>
            <p:ph type="sldNum" sz="quarter" idx="12"/>
          </p:nvPr>
        </p:nvSpPr>
        <p:spPr/>
        <p:txBody>
          <a:bodyPr/>
          <a:lstStyle/>
          <a:p>
            <a:fld id="{C54BE5EA-9852-4303-AE83-A3E087C7FD4C}" type="slidenum">
              <a:rPr lang="fr-FR" smtClean="0"/>
              <a:t>‹N°›</a:t>
            </a:fld>
            <a:endParaRPr lang="fr-FR"/>
          </a:p>
        </p:txBody>
      </p:sp>
    </p:spTree>
    <p:extLst>
      <p:ext uri="{BB962C8B-B14F-4D97-AF65-F5344CB8AC3E}">
        <p14:creationId xmlns:p14="http://schemas.microsoft.com/office/powerpoint/2010/main" val="4264598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1983C99-9A77-5A78-FC12-636B8CB1FC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746ECDE-2613-30B4-7CBF-3A14DC18B1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8868492-3B40-C011-015E-9F86A8DF4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23084-7893-4B1A-8F2E-86159B53C54B}" type="datetimeFigureOut">
              <a:rPr lang="fr-FR" smtClean="0"/>
              <a:t>28/05/2026</a:t>
            </a:fld>
            <a:endParaRPr lang="fr-FR"/>
          </a:p>
        </p:txBody>
      </p:sp>
      <p:sp>
        <p:nvSpPr>
          <p:cNvPr id="5" name="Espace réservé du pied de page 4">
            <a:extLst>
              <a:ext uri="{FF2B5EF4-FFF2-40B4-BE49-F238E27FC236}">
                <a16:creationId xmlns:a16="http://schemas.microsoft.com/office/drawing/2014/main" id="{770C14ED-3FCC-6430-7C8C-797EEAF52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13ED724-A31B-924E-3803-178C6EF8E5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4BE5EA-9852-4303-AE83-A3E087C7FD4C}" type="slidenum">
              <a:rPr lang="fr-FR" smtClean="0"/>
              <a:t>‹N°›</a:t>
            </a:fld>
            <a:endParaRPr lang="fr-FR"/>
          </a:p>
        </p:txBody>
      </p:sp>
    </p:spTree>
    <p:extLst>
      <p:ext uri="{BB962C8B-B14F-4D97-AF65-F5344CB8AC3E}">
        <p14:creationId xmlns:p14="http://schemas.microsoft.com/office/powerpoint/2010/main" val="52265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IT Capstone Project I | ESSBM">
            <a:extLst>
              <a:ext uri="{FF2B5EF4-FFF2-40B4-BE49-F238E27FC236}">
                <a16:creationId xmlns:a16="http://schemas.microsoft.com/office/drawing/2014/main" id="{06702240-6B69-38FB-87EB-FC82B4DD9E18}"/>
              </a:ext>
            </a:extLst>
          </p:cNvPr>
          <p:cNvPicPr>
            <a:picLocks noChangeAspect="1"/>
          </p:cNvPicPr>
          <p:nvPr/>
        </p:nvPicPr>
        <p:blipFill>
          <a:blip r:embed="rId2"/>
          <a:stretch>
            <a:fillRect/>
          </a:stretch>
        </p:blipFill>
        <p:spPr>
          <a:xfrm>
            <a:off x="660815" y="643467"/>
            <a:ext cx="10870370" cy="5571065"/>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C53920D5-BE49-C15C-C833-21D75F0FC648}"/>
              </a:ext>
            </a:extLst>
          </p:cNvPr>
          <p:cNvSpPr txBox="1"/>
          <p:nvPr/>
        </p:nvSpPr>
        <p:spPr>
          <a:xfrm>
            <a:off x="323574" y="5746169"/>
            <a:ext cx="4881575" cy="369332"/>
          </a:xfrm>
          <a:prstGeom prst="rect">
            <a:avLst/>
          </a:prstGeom>
          <a:noFill/>
        </p:spPr>
        <p:txBody>
          <a:bodyPr wrap="square" rtlCol="0">
            <a:spAutoFit/>
          </a:bodyPr>
          <a:lstStyle/>
          <a:p>
            <a:r>
              <a:rPr lang="fr-FR" dirty="0">
                <a:effectLst>
                  <a:outerShdw blurRad="38100" dist="38100" dir="2700000" algn="tl">
                    <a:srgbClr val="000000">
                      <a:alpha val="43137"/>
                    </a:srgbClr>
                  </a:outerShdw>
                </a:effectLst>
              </a:rPr>
              <a:t>BY Cindy, Duc, Kevin</a:t>
            </a:r>
          </a:p>
        </p:txBody>
      </p:sp>
    </p:spTree>
    <p:extLst>
      <p:ext uri="{BB962C8B-B14F-4D97-AF65-F5344CB8AC3E}">
        <p14:creationId xmlns:p14="http://schemas.microsoft.com/office/powerpoint/2010/main" val="3285886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a:extLst>
              <a:ext uri="{FF2B5EF4-FFF2-40B4-BE49-F238E27FC236}">
                <a16:creationId xmlns:a16="http://schemas.microsoft.com/office/drawing/2014/main" id="{9A52D1A1-89DE-99F6-6631-C13AA3DD782F}"/>
              </a:ext>
            </a:extLst>
          </p:cNvPr>
          <p:cNvSpPr>
            <a:spLocks noGrp="1"/>
          </p:cNvSpPr>
          <p:nvPr>
            <p:ph type="title"/>
          </p:nvPr>
        </p:nvSpPr>
        <p:spPr>
          <a:xfrm>
            <a:off x="838200" y="365125"/>
            <a:ext cx="5393361" cy="1325563"/>
          </a:xfrm>
        </p:spPr>
        <p:txBody>
          <a:bodyPr>
            <a:normAutofit/>
          </a:bodyPr>
          <a:lstStyle/>
          <a:p>
            <a:r>
              <a:rPr lang="fr-FR" dirty="0">
                <a:solidFill>
                  <a:schemeClr val="tx1">
                    <a:lumMod val="65000"/>
                    <a:lumOff val="35000"/>
                  </a:schemeClr>
                </a:solidFill>
                <a:effectLst>
                  <a:outerShdw blurRad="38100" dist="38100" dir="2700000" algn="tl">
                    <a:srgbClr val="000000">
                      <a:alpha val="43137"/>
                    </a:srgbClr>
                  </a:outerShdw>
                </a:effectLst>
              </a:rPr>
              <a:t>OUR GOAL</a:t>
            </a:r>
          </a:p>
        </p:txBody>
      </p:sp>
      <p:sp>
        <p:nvSpPr>
          <p:cNvPr id="50" name="Freeform: Shape 49">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3B8F3C60-49BF-7D84-9C0B-CE25297BB8E5}"/>
              </a:ext>
            </a:extLst>
          </p:cNvPr>
          <p:cNvSpPr>
            <a:spLocks noGrp="1"/>
          </p:cNvSpPr>
          <p:nvPr>
            <p:ph idx="1"/>
          </p:nvPr>
        </p:nvSpPr>
        <p:spPr>
          <a:xfrm>
            <a:off x="838200" y="1825625"/>
            <a:ext cx="5393361" cy="4351338"/>
          </a:xfrm>
        </p:spPr>
        <p:txBody>
          <a:bodyPr>
            <a:normAutofit/>
          </a:bodyPr>
          <a:lstStyle/>
          <a:p>
            <a:pPr marL="0" indent="0">
              <a:buNone/>
            </a:pPr>
            <a:r>
              <a:rPr lang="en-US" sz="2200" dirty="0"/>
              <a:t>Our goal was to transform a heterogeneous corpus into a usable system. The scope stayed practical: document upload, browsing, selection, and AI-based interactions that are grounded in the chosen corpus: </a:t>
            </a:r>
          </a:p>
          <a:p>
            <a:r>
              <a:rPr lang="en-US" sz="2200" dirty="0"/>
              <a:t>Upload and organize files instead of leaving them as a raw folder.</a:t>
            </a:r>
          </a:p>
          <a:p>
            <a:r>
              <a:rPr lang="en-US" sz="2200" dirty="0"/>
              <a:t>Select which documents are active for AI interactions.</a:t>
            </a:r>
          </a:p>
          <a:p>
            <a:r>
              <a:rPr lang="en-US" sz="2200" dirty="0"/>
              <a:t> Support chat, flashcards, quiz, and code review workflows.</a:t>
            </a:r>
          </a:p>
          <a:p>
            <a:pPr marL="0" indent="0">
              <a:buNone/>
            </a:pPr>
            <a:endParaRPr lang="fr-FR" sz="2200" dirty="0"/>
          </a:p>
        </p:txBody>
      </p:sp>
      <p:sp>
        <p:nvSpPr>
          <p:cNvPr id="52" name="Oval 51">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c 23" descr="Web Design">
            <a:extLst>
              <a:ext uri="{FF2B5EF4-FFF2-40B4-BE49-F238E27FC236}">
                <a16:creationId xmlns:a16="http://schemas.microsoft.com/office/drawing/2014/main" id="{2E1420D2-37C8-B58E-6497-1E299C074F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54" name="Freeform: Shape 53">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56" name="Straight Connector 55">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2" name="Freeform: Shape 61">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455033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LES SEPT MEILLEURS FRAMEWORKS POUR LE DÉVELOPPEMENT BACKEND – DevologyX">
            <a:extLst>
              <a:ext uri="{FF2B5EF4-FFF2-40B4-BE49-F238E27FC236}">
                <a16:creationId xmlns:a16="http://schemas.microsoft.com/office/drawing/2014/main" id="{DE0A503C-337C-E663-E797-6F21A5A80BE1}"/>
              </a:ext>
            </a:extLst>
          </p:cNvPr>
          <p:cNvPicPr>
            <a:picLocks noChangeAspect="1"/>
          </p:cNvPicPr>
          <p:nvPr/>
        </p:nvPicPr>
        <p:blipFill>
          <a:blip r:embed="rId2"/>
          <a:srcRect l="12934" r="-1" b="-1"/>
          <a:stretch>
            <a:fillRect/>
          </a:stretch>
        </p:blipFill>
        <p:spPr>
          <a:xfrm>
            <a:off x="1" y="10"/>
            <a:ext cx="9669642" cy="6857990"/>
          </a:xfrm>
          <a:prstGeom prst="rect">
            <a:avLst/>
          </a:prstGeom>
        </p:spPr>
      </p:pic>
      <p:sp>
        <p:nvSpPr>
          <p:cNvPr id="27" name="Rectangle 2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A07F984-5FEF-5C9E-0206-7DB04875D534}"/>
              </a:ext>
            </a:extLst>
          </p:cNvPr>
          <p:cNvSpPr>
            <a:spLocks noGrp="1"/>
          </p:cNvSpPr>
          <p:nvPr>
            <p:ph type="title"/>
          </p:nvPr>
        </p:nvSpPr>
        <p:spPr>
          <a:xfrm>
            <a:off x="7531610" y="365125"/>
            <a:ext cx="3822189" cy="1899912"/>
          </a:xfrm>
        </p:spPr>
        <p:txBody>
          <a:bodyPr>
            <a:normAutofit/>
          </a:bodyPr>
          <a:lstStyle/>
          <a:p>
            <a:r>
              <a:rPr lang="fr-FR" sz="4000">
                <a:effectLst>
                  <a:outerShdw blurRad="38100" dist="38100" dir="2700000" algn="tl">
                    <a:srgbClr val="000000">
                      <a:alpha val="43137"/>
                    </a:srgbClr>
                  </a:outerShdw>
                </a:effectLst>
              </a:rPr>
              <a:t>ARCHITECTURE</a:t>
            </a:r>
          </a:p>
        </p:txBody>
      </p:sp>
      <p:sp>
        <p:nvSpPr>
          <p:cNvPr id="3" name="Espace réservé du contenu 2">
            <a:extLst>
              <a:ext uri="{FF2B5EF4-FFF2-40B4-BE49-F238E27FC236}">
                <a16:creationId xmlns:a16="http://schemas.microsoft.com/office/drawing/2014/main" id="{ACC52858-CA78-C4D7-91C9-A218087513AD}"/>
              </a:ext>
            </a:extLst>
          </p:cNvPr>
          <p:cNvSpPr>
            <a:spLocks noGrp="1"/>
          </p:cNvSpPr>
          <p:nvPr>
            <p:ph idx="1"/>
          </p:nvPr>
        </p:nvSpPr>
        <p:spPr>
          <a:xfrm>
            <a:off x="7531610" y="2434201"/>
            <a:ext cx="3822189" cy="3742762"/>
          </a:xfrm>
        </p:spPr>
        <p:txBody>
          <a:bodyPr>
            <a:normAutofit/>
          </a:bodyPr>
          <a:lstStyle/>
          <a:p>
            <a:pPr marL="0" indent="0">
              <a:buNone/>
            </a:pPr>
            <a:r>
              <a:rPr lang="en-US" sz="1900"/>
              <a:t>The app is split into a backend route layer, a storage layer, and a template-based frontend. That kept the project easy to reason about and fast to iterate on as a team.</a:t>
            </a:r>
          </a:p>
          <a:p>
            <a:r>
              <a:rPr lang="en-US" sz="1900"/>
              <a:t>Flask routes handle uploads, selections, preview, and AI endpoints</a:t>
            </a:r>
          </a:p>
          <a:p>
            <a:r>
              <a:rPr lang="en-US" sz="1900"/>
              <a:t> SQLite stores metadata while files are stored on disk.</a:t>
            </a:r>
          </a:p>
          <a:p>
            <a:r>
              <a:rPr lang="en-US" sz="1900"/>
              <a:t>Jinja2 templates render the UI and keep the frontend simple.</a:t>
            </a:r>
          </a:p>
        </p:txBody>
      </p:sp>
    </p:spTree>
    <p:extLst>
      <p:ext uri="{BB962C8B-B14F-4D97-AF65-F5344CB8AC3E}">
        <p14:creationId xmlns:p14="http://schemas.microsoft.com/office/powerpoint/2010/main" val="2291682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9E9B43-26C3-CF9B-1686-3413F2D6C7C2}"/>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Why frontend is so complex? - Hananoshika Yomaru">
            <a:extLst>
              <a:ext uri="{FF2B5EF4-FFF2-40B4-BE49-F238E27FC236}">
                <a16:creationId xmlns:a16="http://schemas.microsoft.com/office/drawing/2014/main" id="{5E1CC418-582E-52C7-5D60-6F1E52881C66}"/>
              </a:ext>
            </a:extLst>
          </p:cNvPr>
          <p:cNvPicPr>
            <a:picLocks noChangeAspect="1"/>
          </p:cNvPicPr>
          <p:nvPr/>
        </p:nvPicPr>
        <p:blipFill>
          <a:blip r:embed="rId2"/>
          <a:srcRect l="4662" r="16027"/>
          <a:stretch>
            <a:fillRect/>
          </a:stretch>
        </p:blipFill>
        <p:spPr>
          <a:xfrm>
            <a:off x="0" y="10"/>
            <a:ext cx="9669642" cy="6857990"/>
          </a:xfrm>
          <a:prstGeom prst="rect">
            <a:avLst/>
          </a:prstGeom>
        </p:spPr>
      </p:pic>
      <p:sp>
        <p:nvSpPr>
          <p:cNvPr id="20" name="Rectangle 1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15762A8-AC7A-8750-3463-A595E25387A8}"/>
              </a:ext>
            </a:extLst>
          </p:cNvPr>
          <p:cNvSpPr>
            <a:spLocks noGrp="1"/>
          </p:cNvSpPr>
          <p:nvPr>
            <p:ph type="title"/>
          </p:nvPr>
        </p:nvSpPr>
        <p:spPr>
          <a:xfrm>
            <a:off x="7531610" y="365125"/>
            <a:ext cx="3822189" cy="1899912"/>
          </a:xfrm>
        </p:spPr>
        <p:txBody>
          <a:bodyPr>
            <a:normAutofit/>
          </a:bodyPr>
          <a:lstStyle/>
          <a:p>
            <a:r>
              <a:rPr lang="fr-FR" sz="4000" dirty="0">
                <a:effectLst>
                  <a:outerShdw blurRad="38100" dist="38100" dir="2700000" algn="tl">
                    <a:srgbClr val="000000">
                      <a:alpha val="43137"/>
                    </a:srgbClr>
                  </a:outerShdw>
                </a:effectLst>
              </a:rPr>
              <a:t>FRONTEND &amp; UX</a:t>
            </a:r>
          </a:p>
        </p:txBody>
      </p:sp>
      <p:sp>
        <p:nvSpPr>
          <p:cNvPr id="3" name="Espace réservé du contenu 2">
            <a:extLst>
              <a:ext uri="{FF2B5EF4-FFF2-40B4-BE49-F238E27FC236}">
                <a16:creationId xmlns:a16="http://schemas.microsoft.com/office/drawing/2014/main" id="{D686676E-0A26-D7D9-1DD1-6B29B3C98D2A}"/>
              </a:ext>
            </a:extLst>
          </p:cNvPr>
          <p:cNvSpPr>
            <a:spLocks noGrp="1"/>
          </p:cNvSpPr>
          <p:nvPr>
            <p:ph idx="1"/>
          </p:nvPr>
        </p:nvSpPr>
        <p:spPr>
          <a:xfrm>
            <a:off x="7528564" y="2109736"/>
            <a:ext cx="3822189" cy="3742762"/>
          </a:xfrm>
        </p:spPr>
        <p:txBody>
          <a:bodyPr>
            <a:noAutofit/>
          </a:bodyPr>
          <a:lstStyle/>
          <a:p>
            <a:pPr marL="0" indent="0">
              <a:buNone/>
            </a:pPr>
            <a:r>
              <a:rPr lang="en-US" sz="2000" dirty="0"/>
              <a:t>The frontend focuses on clarity. Users can see what is selected, what action is happening, and what to do next. The UI is intentionally simple, so the demo stays stable and understandable.</a:t>
            </a:r>
          </a:p>
          <a:p>
            <a:r>
              <a:rPr lang="en-US" sz="2000" dirty="0"/>
              <a:t>Home page for upload, preview, selection, and deletion.</a:t>
            </a:r>
          </a:p>
          <a:p>
            <a:r>
              <a:rPr lang="en-US" sz="2000" dirty="0"/>
              <a:t>Chat, Flashcards, Quiz, and Code Review pages for AI tasks.</a:t>
            </a:r>
          </a:p>
          <a:p>
            <a:r>
              <a:rPr lang="en-US" sz="2000" dirty="0"/>
              <a:t>Loading states, empty states, responsive styling, and validation feedback.</a:t>
            </a:r>
          </a:p>
        </p:txBody>
      </p:sp>
    </p:spTree>
    <p:extLst>
      <p:ext uri="{BB962C8B-B14F-4D97-AF65-F5344CB8AC3E}">
        <p14:creationId xmlns:p14="http://schemas.microsoft.com/office/powerpoint/2010/main" val="2649910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8D4839-448F-FE29-FE80-6F1B18902EAC}"/>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descr="Government must heed committee call for creatives' AI protections | Equity">
            <a:extLst>
              <a:ext uri="{FF2B5EF4-FFF2-40B4-BE49-F238E27FC236}">
                <a16:creationId xmlns:a16="http://schemas.microsoft.com/office/drawing/2014/main" id="{744DEF1F-AB5B-892E-8B6C-0346AEF6F7FB}"/>
              </a:ext>
            </a:extLst>
          </p:cNvPr>
          <p:cNvPicPr>
            <a:picLocks noChangeAspect="1"/>
          </p:cNvPicPr>
          <p:nvPr/>
        </p:nvPicPr>
        <p:blipFill>
          <a:blip r:embed="rId2"/>
          <a:srcRect l="26508" r="2993"/>
          <a:stretch>
            <a:fillRect/>
          </a:stretch>
        </p:blipFill>
        <p:spPr>
          <a:xfrm>
            <a:off x="1" y="10"/>
            <a:ext cx="9669642" cy="6857990"/>
          </a:xfrm>
          <a:prstGeom prst="rect">
            <a:avLst/>
          </a:prstGeom>
        </p:spPr>
      </p:pic>
      <p:sp>
        <p:nvSpPr>
          <p:cNvPr id="27" name="Rectangle 2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99F4F74-D506-2A8D-ECA7-4EF16429E970}"/>
              </a:ext>
            </a:extLst>
          </p:cNvPr>
          <p:cNvSpPr>
            <a:spLocks noGrp="1"/>
          </p:cNvSpPr>
          <p:nvPr>
            <p:ph type="title"/>
          </p:nvPr>
        </p:nvSpPr>
        <p:spPr>
          <a:xfrm>
            <a:off x="7531610" y="365125"/>
            <a:ext cx="3822189" cy="1899912"/>
          </a:xfrm>
        </p:spPr>
        <p:txBody>
          <a:bodyPr>
            <a:normAutofit/>
          </a:bodyPr>
          <a:lstStyle/>
          <a:p>
            <a:r>
              <a:rPr lang="fr-FR" sz="4000" dirty="0">
                <a:effectLst>
                  <a:outerShdw blurRad="38100" dist="38100" dir="2700000" algn="tl">
                    <a:srgbClr val="000000">
                      <a:alpha val="43137"/>
                    </a:srgbClr>
                  </a:outerShdw>
                </a:effectLst>
              </a:rPr>
              <a:t>AI FEATURES &amp; LAYER 2</a:t>
            </a:r>
            <a:endParaRPr lang="fr-FR" sz="4000">
              <a:effectLst>
                <a:outerShdw blurRad="38100" dist="38100" dir="2700000" algn="tl">
                  <a:srgbClr val="000000">
                    <a:alpha val="43137"/>
                  </a:srgbClr>
                </a:outerShdw>
              </a:effectLst>
            </a:endParaRPr>
          </a:p>
        </p:txBody>
      </p:sp>
      <p:sp>
        <p:nvSpPr>
          <p:cNvPr id="3" name="Espace réservé du contenu 2">
            <a:extLst>
              <a:ext uri="{FF2B5EF4-FFF2-40B4-BE49-F238E27FC236}">
                <a16:creationId xmlns:a16="http://schemas.microsoft.com/office/drawing/2014/main" id="{8D7F28ED-7849-11CD-0BD7-BDD7B5EA01A3}"/>
              </a:ext>
            </a:extLst>
          </p:cNvPr>
          <p:cNvSpPr>
            <a:spLocks noGrp="1"/>
          </p:cNvSpPr>
          <p:nvPr>
            <p:ph idx="1"/>
          </p:nvPr>
        </p:nvSpPr>
        <p:spPr>
          <a:xfrm>
            <a:off x="7531610" y="2434201"/>
            <a:ext cx="3822189" cy="3742762"/>
          </a:xfrm>
        </p:spPr>
        <p:txBody>
          <a:bodyPr>
            <a:normAutofit/>
          </a:bodyPr>
          <a:lstStyle/>
          <a:p>
            <a:pPr marL="0" indent="0">
              <a:buNone/>
            </a:pPr>
            <a:r>
              <a:rPr lang="en-US" sz="1700"/>
              <a:t>For the AI layer, we connected the selected documents to the generation workflows and exposed prompt controls. For the extra challenge, we chose selective context so the AI can work with more relevant document pieces instead of everything at once.</a:t>
            </a:r>
          </a:p>
          <a:p>
            <a:r>
              <a:rPr lang="en-US" sz="1700"/>
              <a:t>Chat, flashcards, quiz, and code review are all corpus-aware.</a:t>
            </a:r>
          </a:p>
          <a:p>
            <a:r>
              <a:rPr lang="en-US" sz="1700"/>
              <a:t> Users can adjust tone and generation parameters.</a:t>
            </a:r>
          </a:p>
          <a:p>
            <a:r>
              <a:rPr lang="en-US" sz="1700"/>
              <a:t> Layer 2 choice: RAG-style selective context for more focused retrieval.</a:t>
            </a:r>
          </a:p>
        </p:txBody>
      </p:sp>
    </p:spTree>
    <p:extLst>
      <p:ext uri="{BB962C8B-B14F-4D97-AF65-F5344CB8AC3E}">
        <p14:creationId xmlns:p14="http://schemas.microsoft.com/office/powerpoint/2010/main" val="974659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F3E85E-7E90-3579-9FB5-751A065036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15E5057-B129-A3A2-2B25-1A2B66A47CC2}"/>
              </a:ext>
            </a:extLst>
          </p:cNvPr>
          <p:cNvSpPr>
            <a:spLocks noGrp="1"/>
          </p:cNvSpPr>
          <p:nvPr>
            <p:ph type="title"/>
          </p:nvPr>
        </p:nvSpPr>
        <p:spPr>
          <a:xfrm>
            <a:off x="481013" y="3752849"/>
            <a:ext cx="3290887" cy="2452687"/>
          </a:xfrm>
        </p:spPr>
        <p:txBody>
          <a:bodyPr anchor="ctr">
            <a:normAutofit/>
          </a:bodyPr>
          <a:lstStyle/>
          <a:p>
            <a:r>
              <a:rPr lang="fr-FR" sz="3600">
                <a:effectLst>
                  <a:outerShdw blurRad="38100" dist="38100" dir="2700000" algn="tl">
                    <a:srgbClr val="000000">
                      <a:alpha val="43137"/>
                    </a:srgbClr>
                  </a:outerShdw>
                </a:effectLst>
              </a:rPr>
              <a:t>TESTING AND RELIABILITY</a:t>
            </a:r>
          </a:p>
        </p:txBody>
      </p:sp>
      <p:pic>
        <p:nvPicPr>
          <p:cNvPr id="4" name="Image 3" descr="Reliability Testing - Definition, Types &amp; Tools | ArtOfTesting">
            <a:extLst>
              <a:ext uri="{FF2B5EF4-FFF2-40B4-BE49-F238E27FC236}">
                <a16:creationId xmlns:a16="http://schemas.microsoft.com/office/drawing/2014/main" id="{0349FEE4-0EF6-9632-6431-8132FC4D2CE6}"/>
              </a:ext>
            </a:extLst>
          </p:cNvPr>
          <p:cNvPicPr>
            <a:picLocks noChangeAspect="1"/>
          </p:cNvPicPr>
          <p:nvPr/>
        </p:nvPicPr>
        <p:blipFill>
          <a:blip r:embed="rId2"/>
          <a:srcRect t="23242" b="23597"/>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Espace réservé du contenu 2">
            <a:extLst>
              <a:ext uri="{FF2B5EF4-FFF2-40B4-BE49-F238E27FC236}">
                <a16:creationId xmlns:a16="http://schemas.microsoft.com/office/drawing/2014/main" id="{BF48B9DD-6694-0ACC-3E78-B690F5E53667}"/>
              </a:ext>
            </a:extLst>
          </p:cNvPr>
          <p:cNvSpPr>
            <a:spLocks noGrp="1"/>
          </p:cNvSpPr>
          <p:nvPr>
            <p:ph idx="1"/>
          </p:nvPr>
        </p:nvSpPr>
        <p:spPr>
          <a:xfrm>
            <a:off x="4223982" y="3752850"/>
            <a:ext cx="7485413" cy="2452687"/>
          </a:xfrm>
        </p:spPr>
        <p:txBody>
          <a:bodyPr anchor="ctr">
            <a:normAutofit/>
          </a:bodyPr>
          <a:lstStyle/>
          <a:p>
            <a:pPr marL="0" indent="0">
              <a:buNone/>
            </a:pPr>
            <a:r>
              <a:rPr lang="en-US" sz="1800"/>
              <a:t>We focused on making the app predictable under normal and failure cases. That includes persistence checks, validation tests, and edge cases such as empty files and oversized uploads.</a:t>
            </a:r>
          </a:p>
          <a:p>
            <a:r>
              <a:rPr lang="en-US" sz="1800"/>
              <a:t>Upload, delete, select, persistence, empty-file, oversized-file, and concurrent-save tests.</a:t>
            </a:r>
          </a:p>
          <a:p>
            <a:r>
              <a:rPr lang="en-US" sz="1800"/>
              <a:t>Regression tests stay green after the later Stage 3 polish work.</a:t>
            </a:r>
          </a:p>
          <a:p>
            <a:r>
              <a:rPr lang="en-US" sz="1800"/>
              <a:t>The app now reports clear user-facing errors and security headers.</a:t>
            </a:r>
          </a:p>
        </p:txBody>
      </p:sp>
    </p:spTree>
    <p:extLst>
      <p:ext uri="{BB962C8B-B14F-4D97-AF65-F5344CB8AC3E}">
        <p14:creationId xmlns:p14="http://schemas.microsoft.com/office/powerpoint/2010/main" val="1064880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A40D7F-F964-20D5-E904-CFBB33404D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re 1">
            <a:extLst>
              <a:ext uri="{FF2B5EF4-FFF2-40B4-BE49-F238E27FC236}">
                <a16:creationId xmlns:a16="http://schemas.microsoft.com/office/drawing/2014/main" id="{9B37E691-2965-98D1-0782-A668CF9F75BC}"/>
              </a:ext>
            </a:extLst>
          </p:cNvPr>
          <p:cNvSpPr>
            <a:spLocks noGrp="1"/>
          </p:cNvSpPr>
          <p:nvPr>
            <p:ph type="title"/>
          </p:nvPr>
        </p:nvSpPr>
        <p:spPr>
          <a:xfrm>
            <a:off x="804672" y="2053641"/>
            <a:ext cx="3669161" cy="2760098"/>
          </a:xfrm>
        </p:spPr>
        <p:txBody>
          <a:bodyPr>
            <a:normAutofit/>
          </a:bodyPr>
          <a:lstStyle/>
          <a:p>
            <a:r>
              <a:rPr lang="fr-FR" sz="4000">
                <a:solidFill>
                  <a:schemeClr val="tx2"/>
                </a:solidFill>
                <a:effectLst>
                  <a:outerShdw blurRad="38100" dist="38100" dir="2700000" algn="tl">
                    <a:srgbClr val="000000">
                      <a:alpha val="43137"/>
                    </a:srgbClr>
                  </a:outerShdw>
                </a:effectLst>
              </a:rPr>
              <a:t>CONCLUSION</a:t>
            </a:r>
          </a:p>
        </p:txBody>
      </p:sp>
      <p:sp>
        <p:nvSpPr>
          <p:cNvPr id="3" name="Espace réservé du contenu 2">
            <a:extLst>
              <a:ext uri="{FF2B5EF4-FFF2-40B4-BE49-F238E27FC236}">
                <a16:creationId xmlns:a16="http://schemas.microsoft.com/office/drawing/2014/main" id="{A547B152-B5D7-9EF8-3B32-A9BA8CAA40A7}"/>
              </a:ext>
            </a:extLst>
          </p:cNvPr>
          <p:cNvSpPr>
            <a:spLocks noGrp="1"/>
          </p:cNvSpPr>
          <p:nvPr>
            <p:ph idx="1"/>
          </p:nvPr>
        </p:nvSpPr>
        <p:spPr>
          <a:xfrm>
            <a:off x="6090574" y="801866"/>
            <a:ext cx="5306084" cy="5230634"/>
          </a:xfrm>
          <a:noFill/>
          <a:ln>
            <a:noFill/>
          </a:ln>
        </p:spPr>
        <p:txBody>
          <a:bodyPr anchor="ctr">
            <a:normAutofit/>
          </a:bodyPr>
          <a:lstStyle/>
          <a:p>
            <a:pPr marL="0" indent="0">
              <a:buNone/>
            </a:pPr>
            <a:r>
              <a:rPr lang="en-US" sz="1800" dirty="0">
                <a:solidFill>
                  <a:schemeClr val="tx2"/>
                </a:solidFill>
              </a:rPr>
              <a:t>To conclude, Corpus Forge is a complete local web application with a clear flow, tested behavior, and a documented architecture. </a:t>
            </a:r>
          </a:p>
          <a:p>
            <a:r>
              <a:rPr lang="en-US" sz="1800" dirty="0">
                <a:solidFill>
                  <a:schemeClr val="tx2"/>
                </a:solidFill>
              </a:rPr>
              <a:t>A working local web application with persistence and AI workflows.</a:t>
            </a:r>
          </a:p>
          <a:p>
            <a:r>
              <a:rPr lang="en-US" sz="1800" dirty="0">
                <a:solidFill>
                  <a:schemeClr val="tx2"/>
                </a:solidFill>
              </a:rPr>
              <a:t>A clean team split across backend, frontend, and QA/delivery.</a:t>
            </a:r>
          </a:p>
          <a:p>
            <a:r>
              <a:rPr lang="en-US" sz="1800" dirty="0">
                <a:solidFill>
                  <a:schemeClr val="tx2"/>
                </a:solidFill>
              </a:rPr>
              <a:t>A project we can explain, demo, and defend.</a:t>
            </a:r>
          </a:p>
          <a:p>
            <a:pPr marL="0" indent="0">
              <a:buNone/>
            </a:pPr>
            <a:endParaRPr lang="en-US" sz="1800" dirty="0">
              <a:solidFill>
                <a:schemeClr val="tx2"/>
              </a:solidFill>
            </a:endParaRPr>
          </a:p>
          <a:p>
            <a:pPr marL="0" indent="0" algn="ctr">
              <a:buNone/>
            </a:pPr>
            <a:r>
              <a:rPr lang="en-US" sz="2000" dirty="0">
                <a:solidFill>
                  <a:schemeClr val="tx2"/>
                </a:solidFill>
                <a:effectLst>
                  <a:outerShdw blurRad="38100" dist="38100" dir="2700000" algn="tl">
                    <a:srgbClr val="000000">
                      <a:alpha val="43137"/>
                    </a:srgbClr>
                  </a:outerShdw>
                </a:effectLst>
              </a:rPr>
              <a:t>Thank you, and we are happy to answer questions.</a:t>
            </a:r>
          </a:p>
        </p:txBody>
      </p:sp>
    </p:spTree>
    <p:extLst>
      <p:ext uri="{BB962C8B-B14F-4D97-AF65-F5344CB8AC3E}">
        <p14:creationId xmlns:p14="http://schemas.microsoft.com/office/powerpoint/2010/main" val="25059730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461</Words>
  <Application>Microsoft Office PowerPoint</Application>
  <PresentationFormat>Grand écran</PresentationFormat>
  <Paragraphs>34</Paragraphs>
  <Slides>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Calibri Light</vt:lpstr>
      <vt:lpstr>Thème Office</vt:lpstr>
      <vt:lpstr>Présentation PowerPoint</vt:lpstr>
      <vt:lpstr>OUR GOAL</vt:lpstr>
      <vt:lpstr>ARCHITECTURE</vt:lpstr>
      <vt:lpstr>FRONTEND &amp; UX</vt:lpstr>
      <vt:lpstr>AI FEATURES &amp; LAYER 2</vt:lpstr>
      <vt:lpstr>TESTING AND RELIABILITY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Cindy Gangne fotsing</dc:creator>
  <cp:lastModifiedBy>Cindy Gangne fotsing</cp:lastModifiedBy>
  <cp:revision>1</cp:revision>
  <dcterms:created xsi:type="dcterms:W3CDTF">2026-05-28T00:32:55Z</dcterms:created>
  <dcterms:modified xsi:type="dcterms:W3CDTF">2026-05-28T01:26:19Z</dcterms:modified>
</cp:coreProperties>
</file>